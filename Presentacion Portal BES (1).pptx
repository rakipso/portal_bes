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tMDTuXCE1ATQCk2kTtiyCHYnV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21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21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22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22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2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22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22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22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3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3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4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5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5"/>
          <p:cNvSpPr/>
          <p:nvPr/>
        </p:nvSpPr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25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25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5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25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25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2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7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7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2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2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2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2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2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42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9"/>
          <p:cNvSpPr/>
          <p:nvPr/>
        </p:nvSpPr>
        <p:spPr>
          <a:xfrm>
            <a:off x="2676388" y="2551053"/>
            <a:ext cx="5999100" cy="13863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9"/>
          <p:cNvSpPr txBox="1"/>
          <p:nvPr>
            <p:ph type="title"/>
          </p:nvPr>
        </p:nvSpPr>
        <p:spPr>
          <a:xfrm>
            <a:off x="2936416" y="2749423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" y="0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0"/>
          <p:cNvSpPr/>
          <p:nvPr/>
        </p:nvSpPr>
        <p:spPr>
          <a:xfrm>
            <a:off x="4386194" y="4778652"/>
            <a:ext cx="5999100" cy="13863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0"/>
          <p:cNvSpPr txBox="1"/>
          <p:nvPr>
            <p:ph type="title"/>
          </p:nvPr>
        </p:nvSpPr>
        <p:spPr>
          <a:xfrm>
            <a:off x="4646223" y="4977021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93" name="Google Shape;93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" name="Google Shape;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Presentación 1:</a:t>
            </a:r>
            <a:br>
              <a:rPr lang="es-CL"/>
            </a:b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6937285" y="4305507"/>
            <a:ext cx="4356341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Portal 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107" name="Google Shape;107;p2"/>
          <p:cNvSpPr txBox="1"/>
          <p:nvPr>
            <p:ph idx="2" type="body"/>
          </p:nvPr>
        </p:nvSpPr>
        <p:spPr>
          <a:xfrm>
            <a:off x="1555115" y="1838785"/>
            <a:ext cx="6555952" cy="3180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1. Integrantes del grupo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2. Descripción del proyecto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3. Contexto del proyecto.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4. Metodología.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5. Documentación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6. Puntos clave 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7. Restricciones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8. Futuro del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Integrantes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Integrantes del grupo</a:t>
            </a:r>
            <a:endParaRPr/>
          </a:p>
        </p:txBody>
      </p:sp>
      <p:sp>
        <p:nvSpPr>
          <p:cNvPr id="118" name="Google Shape;118;p4"/>
          <p:cNvSpPr txBox="1"/>
          <p:nvPr>
            <p:ph idx="2" type="body"/>
          </p:nvPr>
        </p:nvSpPr>
        <p:spPr>
          <a:xfrm>
            <a:off x="856763" y="2565000"/>
            <a:ext cx="4512600" cy="17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CL" sz="2100"/>
              <a:t>Alan Uribe - Analista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CL" sz="2100"/>
              <a:t>Joaquin Jerez - Cliente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CL" sz="2100"/>
              <a:t>Tomas Morales - Arquitecto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CL" sz="2100"/>
              <a:t>Ignacio Miranda - Tester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Descripción del proyecto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1152725" y="2778000"/>
            <a:ext cx="34041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963600" y="1728000"/>
            <a:ext cx="6903000" cy="3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Nombre:</a:t>
            </a: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Plataforma Unificada de Consulta de Beneficios Estatales (Portal BES). </a:t>
            </a:r>
            <a:r>
              <a:rPr b="1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Centralizar la consulta de elegibilidad ciudadana para subsidios y ayudas sociales.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Funcionalidades principales: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Autenticación segura (RUT + Documento / ClaveÚnica).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 de seguridad con CAPTCHA.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Cruce de datos con APIs estatales.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s-CL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Visualización categorizada de beneficios disponibles y no disponibles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Contexto del proyecto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Contexto del proyecto</a:t>
            </a:r>
            <a:endParaRPr/>
          </a:p>
        </p:txBody>
      </p:sp>
      <p:sp>
        <p:nvSpPr>
          <p:cNvPr id="140" name="Google Shape;140;p8"/>
          <p:cNvSpPr txBox="1"/>
          <p:nvPr>
            <p:ph idx="2" type="body"/>
          </p:nvPr>
        </p:nvSpPr>
        <p:spPr>
          <a:xfrm>
            <a:off x="2780150" y="1774500"/>
            <a:ext cx="72420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5097"/>
              <a:buNone/>
            </a:pPr>
            <a:r>
              <a:rPr lang="es-CL" sz="2775"/>
              <a:t>Problema actual: Búsqueda manual y fragmentada en múltiples portales. </a:t>
            </a:r>
            <a:endParaRPr sz="277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5097"/>
              <a:buNone/>
            </a:pPr>
            <a:r>
              <a:rPr lang="es-CL" sz="2775"/>
              <a:t>Impacto esperado del proyecto:</a:t>
            </a:r>
            <a:endParaRPr sz="2775"/>
          </a:p>
          <a:p>
            <a:pPr indent="-35041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9188"/>
              <a:buChar char="●"/>
            </a:pPr>
            <a:r>
              <a:rPr lang="es-CL" sz="2775"/>
              <a:t>Disminución de beneficios no cobrados.</a:t>
            </a:r>
            <a:endParaRPr sz="2775"/>
          </a:p>
          <a:p>
            <a:pPr indent="-3504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188"/>
              <a:buChar char="●"/>
            </a:pPr>
            <a:r>
              <a:rPr lang="es-CL" sz="2775"/>
              <a:t>Mayor acceso para personas con baja alfabetización digital.</a:t>
            </a:r>
            <a:endParaRPr sz="2775"/>
          </a:p>
          <a:p>
            <a:pPr indent="-3504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188"/>
              <a:buChar char="●"/>
            </a:pPr>
            <a:r>
              <a:rPr lang="es-CL" sz="2775"/>
              <a:t>Descongestión de sucursales físicas.</a:t>
            </a:r>
            <a:endParaRPr sz="2775"/>
          </a:p>
          <a:p>
            <a:pPr indent="-3504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188"/>
              <a:buChar char="●"/>
            </a:pPr>
            <a:r>
              <a:rPr lang="es-CL" sz="2775"/>
              <a:t>Garantía de privacidad en datos personales</a:t>
            </a:r>
            <a:endParaRPr sz="2775"/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Metodología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3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Metodologia</a:t>
            </a:r>
            <a:endParaRPr/>
          </a:p>
        </p:txBody>
      </p:sp>
      <p:sp>
        <p:nvSpPr>
          <p:cNvPr id="151" name="Google Shape;151;p10"/>
          <p:cNvSpPr txBox="1"/>
          <p:nvPr>
            <p:ph idx="2" type="body"/>
          </p:nvPr>
        </p:nvSpPr>
        <p:spPr>
          <a:xfrm>
            <a:off x="722100" y="1666525"/>
            <a:ext cx="93000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Basada en estándares: </a:t>
            </a:r>
            <a:r>
              <a:rPr b="1" lang="es-CL" sz="1900"/>
              <a:t>IEEE 830</a:t>
            </a:r>
            <a:r>
              <a:rPr lang="es-CL" sz="1900"/>
              <a:t>, </a:t>
            </a:r>
            <a:r>
              <a:rPr b="1" lang="es-CL" sz="1900"/>
              <a:t>ISO/IEC 25010</a:t>
            </a:r>
            <a:r>
              <a:rPr lang="es-CL" sz="1900"/>
              <a:t>, </a:t>
            </a:r>
            <a:r>
              <a:rPr b="1" lang="es-CL" sz="1900"/>
              <a:t>PMI (PMBOK Guide)</a:t>
            </a:r>
            <a:r>
              <a:rPr lang="es-CL" sz="1900"/>
              <a:t>. Principios: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Requisitos claros, verificables y trazables.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Planificación con EDT y Carta Gantt.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Control de cambios mediante matriz de seguimiento</a:t>
            </a:r>
            <a:endParaRPr sz="1900"/>
          </a:p>
          <a:p>
            <a:pPr indent="-139694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2677975" y="2606600"/>
            <a:ext cx="59784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CL" sz="4000">
                <a:solidFill>
                  <a:schemeClr val="lt1"/>
                </a:solidFill>
              </a:rPr>
              <a:t>05. Documentacion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654685" y="551041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3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Documentacion</a:t>
            </a:r>
            <a:endParaRPr/>
          </a:p>
        </p:txBody>
      </p:sp>
      <p:sp>
        <p:nvSpPr>
          <p:cNvPr id="162" name="Google Shape;162;p12"/>
          <p:cNvSpPr txBox="1"/>
          <p:nvPr>
            <p:ph idx="2" type="body"/>
          </p:nvPr>
        </p:nvSpPr>
        <p:spPr>
          <a:xfrm>
            <a:off x="1020450" y="2438250"/>
            <a:ext cx="93000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ERS (Especificación de Requisitos de Software).</a:t>
            </a:r>
            <a:r>
              <a:rPr lang="es-CL" sz="2000"/>
              <a:t>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Casos de uso y prototipos.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Matriz de requisitos funcionales y no funcionales.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Plan de calidad y accesibilidad (WCAG 2.1).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-CL" sz="2000"/>
              <a:t>Planilla de entregables y costos.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4630675" y="4875425"/>
            <a:ext cx="5470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CL" sz="4000">
                <a:solidFill>
                  <a:schemeClr val="lt1"/>
                </a:solidFill>
              </a:rPr>
              <a:t>06. Puntos clave del proyecto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/>
        </p:nvSpPr>
        <p:spPr>
          <a:xfrm>
            <a:off x="1152725" y="2778000"/>
            <a:ext cx="34041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Puntos clave del Proyecto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4936450" y="962100"/>
            <a:ext cx="6903000" cy="4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Funcionales: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-CL" sz="1700">
                <a:solidFill>
                  <a:schemeClr val="dk1"/>
                </a:solidFill>
              </a:rPr>
              <a:t>RF01: Autenticación segura.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-CL" sz="1700">
                <a:solidFill>
                  <a:schemeClr val="dk1"/>
                </a:solidFill>
              </a:rPr>
              <a:t>RF0</a:t>
            </a:r>
            <a:r>
              <a:rPr lang="es-CL" sz="1700">
                <a:solidFill>
                  <a:schemeClr val="dk1"/>
                </a:solidFill>
              </a:rPr>
              <a:t>2</a:t>
            </a:r>
            <a:r>
              <a:rPr lang="es-CL" sz="1700">
                <a:solidFill>
                  <a:schemeClr val="dk1"/>
                </a:solidFill>
              </a:rPr>
              <a:t>: Prevención de tráfico automatizado (CAPTCHA).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-CL" sz="1700">
                <a:solidFill>
                  <a:schemeClr val="dk1"/>
                </a:solidFill>
              </a:rPr>
              <a:t>RF03: Motor de consulta y cruce de beneficios.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-CL" sz="1700">
                <a:solidFill>
                  <a:schemeClr val="dk1"/>
                </a:solidFill>
              </a:rPr>
              <a:t>RF04: Visualización categorizada de resultados.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s-CL" sz="1700">
                <a:solidFill>
                  <a:schemeClr val="dk1"/>
                </a:solidFill>
              </a:rPr>
              <a:t>RF05: Cierre de sesión seguro.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No Funcionales: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Tiempo de respuesta ≤ 3 segundos.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Soporte para 10.000 usuarios concurrentes.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Seguridad: TLS 1.2+, reCAPTCHA, privacidad por diseño.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Disponibilidad: 99.9% uptime.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Portabilidad: Backend portable, frontend responsivo.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Accesibilidad: Cumplimiento WCAG 2.1 nivel AA.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2677975" y="2606600"/>
            <a:ext cx="59784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CL" sz="4000">
                <a:solidFill>
                  <a:schemeClr val="lt1"/>
                </a:solidFill>
              </a:rPr>
              <a:t>07. Restricciones</a:t>
            </a:r>
            <a:endParaRPr sz="4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6510853" y="405838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Restricciones</a:t>
            </a:r>
            <a:endParaRPr/>
          </a:p>
        </p:txBody>
      </p:sp>
      <p:sp>
        <p:nvSpPr>
          <p:cNvPr id="184" name="Google Shape;184;p16"/>
          <p:cNvSpPr txBox="1"/>
          <p:nvPr>
            <p:ph idx="2" type="body"/>
          </p:nvPr>
        </p:nvSpPr>
        <p:spPr>
          <a:xfrm>
            <a:off x="2780150" y="2346175"/>
            <a:ext cx="7242000" cy="20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574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475"/>
              <a:buChar char="●"/>
            </a:pPr>
            <a:r>
              <a:rPr lang="es-CL" sz="2475"/>
              <a:t>Cumplimiento estricto de la Ley Nº 19.628 (Protección de la Vida Privada). </a:t>
            </a:r>
            <a:endParaRPr sz="2475"/>
          </a:p>
          <a:p>
            <a:pPr indent="-38574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75"/>
              <a:buChar char="●"/>
            </a:pPr>
            <a:r>
              <a:rPr lang="es-CL" sz="2475"/>
              <a:t>Dependencia de APIs externas (Registro Civil, SENCE, IPS).</a:t>
            </a:r>
            <a:endParaRPr sz="2475"/>
          </a:p>
          <a:p>
            <a:pPr indent="-38574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75"/>
              <a:buChar char="●"/>
            </a:pPr>
            <a:r>
              <a:rPr lang="es-CL" sz="2475"/>
              <a:t>Uso obligatorio de HTTPS y OpenID Connect.</a:t>
            </a:r>
            <a:endParaRPr sz="2475"/>
          </a:p>
          <a:p>
            <a:pPr indent="0" lvl="0" marL="0" rtl="0" algn="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type="title"/>
          </p:nvPr>
        </p:nvSpPr>
        <p:spPr>
          <a:xfrm>
            <a:off x="4661325" y="4917800"/>
            <a:ext cx="5470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CL" sz="4000">
                <a:solidFill>
                  <a:schemeClr val="lt1"/>
                </a:solidFill>
              </a:rPr>
              <a:t>08. Futuro del proyecto</a:t>
            </a:r>
            <a:endParaRPr sz="4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1166300" y="2751000"/>
            <a:ext cx="34041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Cambios futuros que se implementaran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977150" y="2299350"/>
            <a:ext cx="6903000" cy="22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Notificaciones proactivas (SMS/Email). 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Chatbot con IA para asistencia ciudadana.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Soporte multilingüe.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más profunda con bases de datos gubernamentales.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