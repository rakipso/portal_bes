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mrBoEYoYueOiYFW9Ma78Fkss8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692640" y="2286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DuocUC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1018520" y="320040"/>
            <a:ext cx="960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"/>
              <a:buFont typeface="Arial"/>
              <a:buNone/>
            </a:pPr>
            <a:r>
              <a:rPr b="0" i="0" lang="en-US" sz="5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INFORMÁTICA Y TELECOMUNICACIONES</a:t>
            </a:r>
            <a:endParaRPr b="0" i="0" sz="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85800" y="1600200"/>
            <a:ext cx="5212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Portal BES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2286000"/>
            <a:ext cx="6126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Evaluación EA3 · Calidad y Pruebas sobre el Prototipo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2788920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A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5AA9"/>
                </a:solidFill>
                <a:latin typeface="Arial"/>
                <a:ea typeface="Arial"/>
                <a:cs typeface="Arial"/>
                <a:sym typeface="Arial"/>
              </a:rPr>
              <a:t>Prototipo funcional: https://portal-bes.vercel.app/login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bes_imgs/image1.png" id="23" name="Google Shape;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479329"/>
            <a:ext cx="3840480" cy="335070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685800" y="5806440"/>
            <a:ext cx="10789920" cy="27432"/>
          </a:xfrm>
          <a:prstGeom prst="rect">
            <a:avLst/>
          </a:prstGeom>
          <a:solidFill>
            <a:srgbClr val="D0D7DE"/>
          </a:solidFill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85800" y="5989320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Ingeniería de Software · Prototipo funcional y pruebas estándar de calidad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20040" y="11887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EA3 · Calidad y Pruebas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195560" y="8229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DuocUC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1201400" y="14630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INFORMÁTICA Y TELECOMUNICACIONES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02920" y="758952"/>
            <a:ext cx="11155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Contexto del caso semestral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7;p2"/>
          <p:cNvCxnSpPr/>
          <p:nvPr/>
        </p:nvCxnSpPr>
        <p:spPr>
          <a:xfrm>
            <a:off x="502920" y="13075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2"/>
          <p:cNvSpPr/>
          <p:nvPr/>
        </p:nvSpPr>
        <p:spPr>
          <a:xfrm>
            <a:off x="594360" y="1554480"/>
            <a:ext cx="35204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94360" y="1554480"/>
            <a:ext cx="73152" cy="1371600"/>
          </a:xfrm>
          <a:prstGeom prst="rect">
            <a:avLst/>
          </a:prstGeom>
          <a:solidFill>
            <a:srgbClr val="005AA9"/>
          </a:solidFill>
          <a:ln cap="flat" cmpd="sng" w="12700">
            <a:solidFill>
              <a:srgbClr val="005A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58952" y="1682496"/>
            <a:ext cx="32278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Propósito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58952" y="1993392"/>
            <a:ext cx="3227832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Portal gubernamental simulado para consultar beneficios estatales según perfil ciudadano, RSH y reglas de elegibilidad.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343400" y="1554480"/>
            <a:ext cx="35204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343400" y="1554480"/>
            <a:ext cx="73152" cy="1371600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07992" y="1682496"/>
            <a:ext cx="32278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Prototipo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07992" y="1993392"/>
            <a:ext cx="3227832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Next.js + React + TypeScript, publicado en Vercel. Flujo orientado a login, dashboard, accesibilidad, auditoría y simulación de fallas.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092440" y="1554480"/>
            <a:ext cx="35204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092440" y="1554480"/>
            <a:ext cx="73152" cy="13716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257032" y="1682496"/>
            <a:ext cx="32278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257032" y="1993392"/>
            <a:ext cx="3227832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Ciudadanos chilenos, con foco en adultos mayores, y administradores responsables de auditoría y continuidad operativa.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bes_imgs/image8.png" id="50" name="Google Shape;50;p2"/>
          <p:cNvPicPr preferRelativeResize="0"/>
          <p:nvPr/>
        </p:nvPicPr>
        <p:blipFill rotWithShape="1">
          <a:blip r:embed="rId3">
            <a:alphaModFix/>
          </a:blip>
          <a:srcRect b="801" l="0" r="0" t="801"/>
          <a:stretch/>
        </p:blipFill>
        <p:spPr>
          <a:xfrm>
            <a:off x="777240" y="3429000"/>
            <a:ext cx="4937760" cy="2331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bes_imgs/image4.png" id="51" name="Google Shape;51;p2"/>
          <p:cNvPicPr preferRelativeResize="0"/>
          <p:nvPr/>
        </p:nvPicPr>
        <p:blipFill rotWithShape="1">
          <a:blip r:embed="rId4">
            <a:alphaModFix/>
          </a:blip>
          <a:srcRect b="1065" l="0" r="0" t="1065"/>
          <a:stretch/>
        </p:blipFill>
        <p:spPr>
          <a:xfrm>
            <a:off x="6080760" y="3429000"/>
            <a:ext cx="4937760" cy="23317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2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2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Portal BES · Ingeniería de Software · Evaluación EA3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20040" y="11887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EA3 · Calidad y Pruebas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195560" y="8229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DuocUC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1201400" y="14630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b="0" i="0" lang="en-US" sz="4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INFORMÁTICA Y TELECOMUNICACIONES</a:t>
            </a:r>
            <a:endParaRPr b="0" i="0" sz="4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02920" y="758952"/>
            <a:ext cx="11155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Entregables EA3 solicitados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p3"/>
          <p:cNvCxnSpPr/>
          <p:nvPr/>
        </p:nvCxnSpPr>
        <p:spPr>
          <a:xfrm>
            <a:off x="502920" y="13075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3"/>
          <p:cNvSpPr/>
          <p:nvPr/>
        </p:nvSpPr>
        <p:spPr>
          <a:xfrm>
            <a:off x="685800" y="1508760"/>
            <a:ext cx="33832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85800" y="1508760"/>
            <a:ext cx="73152" cy="1234440"/>
          </a:xfrm>
          <a:prstGeom prst="rect">
            <a:avLst/>
          </a:prstGeom>
          <a:solidFill>
            <a:srgbClr val="005AA9"/>
          </a:solidFill>
          <a:ln cap="flat" cmpd="sng" w="12700">
            <a:solidFill>
              <a:srgbClr val="005A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50392" y="1636776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1. Prototipo funcional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50392" y="1947672"/>
            <a:ext cx="3090672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Aplicación publicada en la nube y lista para demostración en vivo.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389120" y="1508760"/>
            <a:ext cx="33832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389120" y="1508760"/>
            <a:ext cx="73152" cy="1234440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553712" y="1636776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2. Plan de pruebas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53712" y="1947672"/>
            <a:ext cx="3090672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Documento que explica estrategia, normas de calidad y alcance de ejecución.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092440" y="1508760"/>
            <a:ext cx="33832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092440" y="1508760"/>
            <a:ext cx="73152" cy="123444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257032" y="1636776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3. Planillas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257032" y="1947672"/>
            <a:ext cx="3090672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HU + criterios, casos de prueba, defectos, control de cambios y Kanban.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77240" y="3154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Corrección aplicada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68680" y="3611880"/>
            <a:ext cx="51206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 mantienen las 8 historias de usuario originales del proyecto.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 agregan 4 HU nuevas, alineadas al prototipo real.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Cada HU queda con 4 criterios de aceptación.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Resultado: 12 HU, 48 CA y 48 casos de prueba.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446520" y="3246120"/>
            <a:ext cx="4526280" cy="1783080"/>
          </a:xfrm>
          <a:prstGeom prst="roundRect">
            <a:avLst>
              <a:gd fmla="val 16667" name="adj"/>
            </a:avLst>
          </a:prstGeom>
          <a:solidFill>
            <a:srgbClr val="EAF4FF"/>
          </a:solidFill>
          <a:ln cap="flat" cmpd="sng" w="12700">
            <a:solidFill>
              <a:srgbClr val="BB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6720840" y="34930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Resumen de cobertura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720840" y="3840480"/>
            <a:ext cx="38404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12 historias de usuario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48 criterios de aceptación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48 casos de prueba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6 defectos registrados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Control de cambios v1.0 a v1.5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3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3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Portal BES · Ingeniería de Software · Evaluación EA3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20040" y="11887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EA3 · Calidad y Pruebas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0195560" y="8229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DuocUC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1201400" y="14630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lang="en-US" sz="4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INFORMÁTICA Y TELECOMUNICACIONES</a:t>
            </a:r>
            <a:endParaRPr sz="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02920" y="758952"/>
            <a:ext cx="11155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Modelo de calidad aplicado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4"/>
          <p:cNvCxnSpPr/>
          <p:nvPr/>
        </p:nvCxnSpPr>
        <p:spPr>
          <a:xfrm>
            <a:off x="502920" y="13075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4"/>
          <p:cNvSpPr/>
          <p:nvPr/>
        </p:nvSpPr>
        <p:spPr>
          <a:xfrm>
            <a:off x="685800" y="1554480"/>
            <a:ext cx="324612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85800" y="1554480"/>
            <a:ext cx="73152" cy="1828800"/>
          </a:xfrm>
          <a:prstGeom prst="rect">
            <a:avLst/>
          </a:prstGeom>
          <a:solidFill>
            <a:srgbClr val="005AA9"/>
          </a:solidFill>
          <a:ln cap="flat" cmpd="sng" w="12700">
            <a:solidFill>
              <a:srgbClr val="005A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850392" y="1682496"/>
            <a:ext cx="2953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ISO 9126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50392" y="1993392"/>
            <a:ext cx="295351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Funcionalidad, fiabilidad, usabilidad y eficiencia como base para evaluar si el prototipo cumple lo esperado por el usuario.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480560" y="1554480"/>
            <a:ext cx="324612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480560" y="1554480"/>
            <a:ext cx="73152" cy="1828800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645152" y="1682496"/>
            <a:ext cx="2953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ISO/IEC 25010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645152" y="1993392"/>
            <a:ext cx="295351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Complementa la mirada moderna de calidad: seguridad, mantenibilidad, portabilidad y adecuación funcional.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275320" y="1554480"/>
            <a:ext cx="324612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8275320" y="1554480"/>
            <a:ext cx="73152" cy="18288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8439912" y="1682496"/>
            <a:ext cx="2953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ISO 25000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439912" y="1993392"/>
            <a:ext cx="295351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Marco de calidad del producto software. Sirve para ordenar criterios, métricas y evidencias de validación.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22960" y="38862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Aplicación en Portal BES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22960" y="434340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La calidad se valida sobre funcionalidades visibles: autenticación, visualización de beneficios, transparencia de rechazo, seguridad de sesión, accesibilidad, auditoría, rendimiento, mantenimiento, logs, caídas y redirección externa.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4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4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Portal BES · Ingeniería de Software · Evaluación EA3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20040" y="11887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EA3 · Calidad y Pruebas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0195560" y="8229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DuocUC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1201400" y="14630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lang="en-US" sz="4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INFORMÁTICA Y TELECOMUNICACIONES</a:t>
            </a:r>
            <a:endParaRPr sz="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02920" y="758952"/>
            <a:ext cx="11155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Historias de usuario: 8 originales + 4 nuevas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5"/>
          <p:cNvCxnSpPr/>
          <p:nvPr/>
        </p:nvCxnSpPr>
        <p:spPr>
          <a:xfrm>
            <a:off x="502920" y="13075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5"/>
          <p:cNvSpPr/>
          <p:nvPr/>
        </p:nvSpPr>
        <p:spPr>
          <a:xfrm>
            <a:off x="685800" y="1554480"/>
            <a:ext cx="521208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85800" y="1554480"/>
            <a:ext cx="73152" cy="4206240"/>
          </a:xfrm>
          <a:prstGeom prst="rect">
            <a:avLst/>
          </a:prstGeom>
          <a:solidFill>
            <a:srgbClr val="005AA9"/>
          </a:solidFill>
          <a:ln cap="flat" cmpd="sng" w="12700">
            <a:solidFill>
              <a:srgbClr val="005A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850392" y="1682496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HU originales del caso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50392" y="1993392"/>
            <a:ext cx="4919472" cy="3675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HU-01 Autenticación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HU-02 Visualización de beneficios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HU-03 Transparencia de rechazo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HU-04 Cierre de sesión seguro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HU-05 Accesibilidad universal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HU-06 Registro fallas API</a:t>
            </a:r>
            <a:endParaRPr sz="105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</a:rPr>
              <a:t>• HU-07 Monitoreo rendimiento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</a:rPr>
              <a:t>• HU-08 Mantenimiento portal</a:t>
            </a:r>
            <a:endParaRPr sz="1050">
              <a:solidFill>
                <a:srgbClr val="1F2937"/>
              </a:solidFill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309360" y="1554480"/>
            <a:ext cx="521208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309360" y="1554480"/>
            <a:ext cx="73152" cy="4206240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473952" y="1682496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HU añadidas / consolidadas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473952" y="1993392"/>
            <a:ext cx="4919472" cy="367588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HU-09 Panel de auditoría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HU-10 Filtrado de logs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HU-11 Institución no disponible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HU-12 Redirección oficial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Criterio de diseño: no se eliminan historias previas; se amplía el alcance para cumplir 3 HU por integrante y cubrir el prototipo actual.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5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5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Portal BES · Ingeniería de Software · Evaluación EA3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20040" y="11887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EA3 · Calidad y Pruebas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0195560" y="8229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DuocUC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1201400" y="14630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lang="en-US" sz="4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INFORMÁTICA Y TELECOMUNICACIONES</a:t>
            </a:r>
            <a:endParaRPr sz="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02920" y="758952"/>
            <a:ext cx="11155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Proceso de pruebas manuales sobre prototipo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6"/>
          <p:cNvCxnSpPr/>
          <p:nvPr/>
        </p:nvCxnSpPr>
        <p:spPr>
          <a:xfrm>
            <a:off x="502920" y="13075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6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005AA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832104" y="1947672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7200" y="2514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HU y CA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65760" y="2862072"/>
            <a:ext cx="1325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Definir criterios claros con Dado/Cuando/Entonces.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6"/>
          <p:cNvCxnSpPr/>
          <p:nvPr/>
        </p:nvCxnSpPr>
        <p:spPr>
          <a:xfrm>
            <a:off x="1271016" y="2075688"/>
            <a:ext cx="1463040" cy="0"/>
          </a:xfrm>
          <a:prstGeom prst="straightConnector1">
            <a:avLst/>
          </a:prstGeom>
          <a:noFill/>
          <a:ln cap="flat" cmpd="sng" w="19050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p6"/>
          <p:cNvSpPr/>
          <p:nvPr/>
        </p:nvSpPr>
        <p:spPr>
          <a:xfrm>
            <a:off x="2926080" y="1828800"/>
            <a:ext cx="502920" cy="502920"/>
          </a:xfrm>
          <a:prstGeom prst="ellipse">
            <a:avLst/>
          </a:prstGeom>
          <a:solidFill>
            <a:srgbClr val="F6A80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3072384" y="1947672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697480" y="2514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Caso de prueba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606040" y="2862072"/>
            <a:ext cx="1325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Transformar cada CA en un caso ejecutable.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6"/>
          <p:cNvCxnSpPr/>
          <p:nvPr/>
        </p:nvCxnSpPr>
        <p:spPr>
          <a:xfrm>
            <a:off x="3511296" y="2075688"/>
            <a:ext cx="1463040" cy="0"/>
          </a:xfrm>
          <a:prstGeom prst="straightConnector1">
            <a:avLst/>
          </a:prstGeom>
          <a:noFill/>
          <a:ln cap="flat" cmpd="sng" w="19050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" name="Google Shape;162;p6"/>
          <p:cNvSpPr/>
          <p:nvPr/>
        </p:nvSpPr>
        <p:spPr>
          <a:xfrm>
            <a:off x="5166360" y="1828800"/>
            <a:ext cx="502920" cy="502920"/>
          </a:xfrm>
          <a:prstGeom prst="ellipse">
            <a:avLst/>
          </a:prstGeom>
          <a:solidFill>
            <a:srgbClr val="005AA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5312664" y="1947672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937760" y="2514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Ejecución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846320" y="2862072"/>
            <a:ext cx="1325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Abrir el prototipo y seguir los pasos manualmente.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6"/>
          <p:cNvCxnSpPr/>
          <p:nvPr/>
        </p:nvCxnSpPr>
        <p:spPr>
          <a:xfrm>
            <a:off x="5751576" y="2075688"/>
            <a:ext cx="1463040" cy="0"/>
          </a:xfrm>
          <a:prstGeom prst="straightConnector1">
            <a:avLst/>
          </a:prstGeom>
          <a:noFill/>
          <a:ln cap="flat" cmpd="sng" w="19050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" name="Google Shape;167;p6"/>
          <p:cNvSpPr/>
          <p:nvPr/>
        </p:nvSpPr>
        <p:spPr>
          <a:xfrm>
            <a:off x="7406640" y="1828800"/>
            <a:ext cx="502920" cy="502920"/>
          </a:xfrm>
          <a:prstGeom prst="ellipse">
            <a:avLst/>
          </a:prstGeom>
          <a:solidFill>
            <a:srgbClr val="F6A80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7552944" y="1947672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7178040" y="2514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086600" y="2862072"/>
            <a:ext cx="1325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Registrar Passed, Failed, Blocked o In Progress.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6"/>
          <p:cNvCxnSpPr/>
          <p:nvPr/>
        </p:nvCxnSpPr>
        <p:spPr>
          <a:xfrm>
            <a:off x="7991856" y="2075688"/>
            <a:ext cx="1463040" cy="0"/>
          </a:xfrm>
          <a:prstGeom prst="straightConnector1">
            <a:avLst/>
          </a:prstGeom>
          <a:noFill/>
          <a:ln cap="flat" cmpd="sng" w="19050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" name="Google Shape;172;p6"/>
          <p:cNvSpPr/>
          <p:nvPr/>
        </p:nvSpPr>
        <p:spPr>
          <a:xfrm>
            <a:off x="9646920" y="1828800"/>
            <a:ext cx="502920" cy="502920"/>
          </a:xfrm>
          <a:prstGeom prst="ellipse">
            <a:avLst/>
          </a:prstGeom>
          <a:solidFill>
            <a:srgbClr val="005AA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9793224" y="1947672"/>
            <a:ext cx="2011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9418320" y="25146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Defecto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9326880" y="2862072"/>
            <a:ext cx="1325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Si falla, documentar bug y versión de corrección.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005840" y="4572000"/>
            <a:ext cx="10241280" cy="777240"/>
          </a:xfrm>
          <a:prstGeom prst="roundRect">
            <a:avLst>
              <a:gd fmla="val 16667" name="adj"/>
            </a:avLst>
          </a:prstGeom>
          <a:solidFill>
            <a:srgbClr val="FFF7E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1234440" y="4782312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Importante: para esta actividad no es obligatorio automatizar. Se ejecutan casos manuales sobre el prototipo publicado y se documentan evidencias, resultados y defectos.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6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Portal BES · Ingeniería de Software · Evaluación EA3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320040" y="11887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EA3 · Calidad y Pruebas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0195560" y="8229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DuocUC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1201400" y="14630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lang="en-US" sz="4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INFORMÁTICA Y TELECOMUNICACIONES</a:t>
            </a:r>
            <a:endParaRPr sz="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02920" y="758952"/>
            <a:ext cx="11155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Matriz de casos de prueba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7"/>
          <p:cNvCxnSpPr/>
          <p:nvPr/>
        </p:nvCxnSpPr>
        <p:spPr>
          <a:xfrm>
            <a:off x="502920" y="13075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7"/>
          <p:cNvSpPr/>
          <p:nvPr/>
        </p:nvSpPr>
        <p:spPr>
          <a:xfrm>
            <a:off x="685800" y="1554480"/>
            <a:ext cx="32918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685800" y="1554480"/>
            <a:ext cx="73152" cy="1371600"/>
          </a:xfrm>
          <a:prstGeom prst="rect">
            <a:avLst/>
          </a:prstGeom>
          <a:solidFill>
            <a:srgbClr val="005AA9"/>
          </a:solidFill>
          <a:ln cap="flat" cmpd="sng" w="12700">
            <a:solidFill>
              <a:srgbClr val="005A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850392" y="1682496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50392" y="1993392"/>
            <a:ext cx="2999232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48 criterios de aceptación derivados de las 12 HU.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434840" y="1554480"/>
            <a:ext cx="32918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434840" y="1554480"/>
            <a:ext cx="73152" cy="1371600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599432" y="1682496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4599432" y="1993392"/>
            <a:ext cx="2999232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 caso de prueba por cada criterio de aceptación.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183880" y="1554480"/>
            <a:ext cx="329184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8183880" y="1554480"/>
            <a:ext cx="73152" cy="13716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8348472" y="1682496"/>
            <a:ext cx="2999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Salida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8348472" y="1993392"/>
            <a:ext cx="2999232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Estado Kanban + evidencia + defecto si corresponde.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1005840" y="3520440"/>
            <a:ext cx="10149840" cy="17373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1280160" y="37490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Estructura de cada caso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1280160" y="4160520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ID · HU · CA · Nombre · Precondición · Pasos de ejecución · Datos de entrada · Resultado esperado · Estado · Tipo · Severidad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280160" y="4800600"/>
            <a:ext cx="9326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Ejemplo: TC_043 valida que una institución marcada como no disponible muestre tarjeta opaca, alerta y bloqueo de postulación.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7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7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Portal BES · Ingeniería de Software · Evaluación EA3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320040" y="11887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EA3 · Calidad y Pruebas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0195560" y="8229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DuocUC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1201400" y="14630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lang="en-US" sz="4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INFORMÁTICA Y TELECOMUNICACIONES</a:t>
            </a:r>
            <a:endParaRPr sz="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02920" y="758952"/>
            <a:ext cx="11155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Kanban de pruebas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8"/>
          <p:cNvCxnSpPr/>
          <p:nvPr/>
        </p:nvCxnSpPr>
        <p:spPr>
          <a:xfrm>
            <a:off x="502920" y="13075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8"/>
          <p:cNvSpPr/>
          <p:nvPr/>
        </p:nvSpPr>
        <p:spPr>
          <a:xfrm>
            <a:off x="640080" y="1554480"/>
            <a:ext cx="1965960" cy="4069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731520" y="1691640"/>
            <a:ext cx="1783080" cy="411480"/>
          </a:xfrm>
          <a:prstGeom prst="roundRect">
            <a:avLst>
              <a:gd fmla="val 16667" name="adj"/>
            </a:avLst>
          </a:prstGeom>
          <a:solidFill>
            <a:srgbClr val="005AA9"/>
          </a:solidFill>
          <a:ln cap="flat" cmpd="sng" w="12700">
            <a:solidFill>
              <a:srgbClr val="005A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777240" y="1810512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Do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77240" y="2331720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Por probar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868680" y="28803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Casos listados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914400" y="3840480"/>
            <a:ext cx="1417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TC_0xx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2926080" y="1554480"/>
            <a:ext cx="1965960" cy="4069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3017520" y="1691640"/>
            <a:ext cx="1783080" cy="411480"/>
          </a:xfrm>
          <a:prstGeom prst="roundRect">
            <a:avLst>
              <a:gd fmla="val 16667" name="adj"/>
            </a:avLst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3063240" y="1810512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Progress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3063240" y="2331720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En ejecución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154680" y="28803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Ejecución en curso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200400" y="3840480"/>
            <a:ext cx="1417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TC_0xx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212080" y="1554480"/>
            <a:ext cx="1965960" cy="4069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5303520" y="1691640"/>
            <a:ext cx="1783080" cy="411480"/>
          </a:xfrm>
          <a:prstGeom prst="roundRect">
            <a:avLst>
              <a:gd fmla="val 16667" name="adj"/>
            </a:avLst>
          </a:prstGeom>
          <a:solidFill>
            <a:srgbClr val="FACC15"/>
          </a:solidFill>
          <a:ln cap="flat" cmpd="sng" w="12700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5349240" y="1810512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Blocked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349240" y="2331720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Bloqueado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440680" y="28803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Falta dato o flujo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486400" y="3840480"/>
            <a:ext cx="1417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TC_0xx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498080" y="1554480"/>
            <a:ext cx="1965960" cy="4069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7589520" y="1691640"/>
            <a:ext cx="1783080" cy="411480"/>
          </a:xfrm>
          <a:prstGeom prst="roundRect">
            <a:avLst>
              <a:gd fmla="val 16667" name="adj"/>
            </a:avLst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7635240" y="1810512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Failed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635240" y="2331720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Bug abierto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726680" y="28803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Resultado distinto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7772400" y="3840480"/>
            <a:ext cx="1417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TC_007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BUG_001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9784080" y="1554480"/>
            <a:ext cx="1965960" cy="4069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9875520" y="1691640"/>
            <a:ext cx="1783080" cy="41148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9921240" y="1810512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Passed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9921240" y="2331720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Validado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10012680" y="2880360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Caso aprobado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10058400" y="3840480"/>
            <a:ext cx="1417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TC_001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TC_002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TC_003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El Kanban permite seguimiento visual, pero la ejecución real ocurre interactuando con el prototipo y comparando resultado obtenido vs. esperado.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8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8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Portal BES · Ingeniería de Software · Evaluación EA3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320040" y="11887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EA3 · Calidad y Pruebas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0195560" y="8229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DuocUC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1201400" y="14630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lang="en-US" sz="4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INFORMÁTICA Y TELECOMUNICACIONES</a:t>
            </a:r>
            <a:endParaRPr sz="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02920" y="758952"/>
            <a:ext cx="11155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Defectos y trazabilidad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9"/>
          <p:cNvCxnSpPr/>
          <p:nvPr/>
        </p:nvCxnSpPr>
        <p:spPr>
          <a:xfrm>
            <a:off x="502920" y="13075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9"/>
          <p:cNvSpPr/>
          <p:nvPr/>
        </p:nvSpPr>
        <p:spPr>
          <a:xfrm>
            <a:off x="731520" y="1508760"/>
            <a:ext cx="3108960" cy="118872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731520" y="1508760"/>
            <a:ext cx="73152" cy="1188720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896112" y="1636776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BUG_001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896112" y="1947672"/>
            <a:ext cx="2816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Motivo de rechazo poco visible. Asociado a TC_007. Corregido en v1.1.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526280" y="1508760"/>
            <a:ext cx="3108960" cy="118872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4526280" y="1508760"/>
            <a:ext cx="73152" cy="11887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690872" y="1636776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BUG_002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4690872" y="1947672"/>
            <a:ext cx="2816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Retroceso tras cerrar sesión. Asociado a TC_010. Corregido en v1.2.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8321040" y="1508760"/>
            <a:ext cx="3108960" cy="118872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8321040" y="1508760"/>
            <a:ext cx="73152" cy="11887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8485632" y="1636776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BUG_004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8485632" y="1947672"/>
            <a:ext cx="28163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Error de acceso admin. Asociado a TC_017. Corregido en v1.2.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bes_imgs/image5.png" id="282" name="Google Shape;282;p9"/>
          <p:cNvPicPr preferRelativeResize="0"/>
          <p:nvPr/>
        </p:nvPicPr>
        <p:blipFill rotWithShape="1">
          <a:blip r:embed="rId3">
            <a:alphaModFix/>
          </a:blip>
          <a:srcRect b="0" l="1862" r="1862" t="0"/>
          <a:stretch/>
        </p:blipFill>
        <p:spPr>
          <a:xfrm>
            <a:off x="822960" y="3154680"/>
            <a:ext cx="4754880" cy="2331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bes_imgs/image4.png" id="283" name="Google Shape;283;p9"/>
          <p:cNvPicPr preferRelativeResize="0"/>
          <p:nvPr/>
        </p:nvPicPr>
        <p:blipFill rotWithShape="1">
          <a:blip r:embed="rId4">
            <a:alphaModFix/>
          </a:blip>
          <a:srcRect b="0" l="804" r="804" t="0"/>
          <a:stretch/>
        </p:blipFill>
        <p:spPr>
          <a:xfrm>
            <a:off x="6126480" y="3154680"/>
            <a:ext cx="4754880" cy="23317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9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9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Portal BES · Ingeniería de Software · Evaluación EA3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320040" y="11887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EA3 · Calidad y Pruebas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10195560" y="8229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DuocUC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11201400" y="14630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lang="en-US" sz="4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INFORMÁTICA Y TELECOMUNICACIONES</a:t>
            </a:r>
            <a:endParaRPr sz="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02920" y="758952"/>
            <a:ext cx="11155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Control de cambios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" name="Google Shape;298;p10"/>
          <p:cNvCxnSpPr/>
          <p:nvPr/>
        </p:nvCxnSpPr>
        <p:spPr>
          <a:xfrm>
            <a:off x="502920" y="13075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0"/>
          <p:cNvSpPr/>
          <p:nvPr/>
        </p:nvSpPr>
        <p:spPr>
          <a:xfrm>
            <a:off x="1051560" y="1874520"/>
            <a:ext cx="914400" cy="384048"/>
          </a:xfrm>
          <a:prstGeom prst="rect">
            <a:avLst/>
          </a:prstGeom>
          <a:solidFill>
            <a:srgbClr val="005AA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v1.0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10"/>
          <p:cNvCxnSpPr/>
          <p:nvPr/>
        </p:nvCxnSpPr>
        <p:spPr>
          <a:xfrm>
            <a:off x="1993392" y="2075688"/>
            <a:ext cx="932688" cy="0"/>
          </a:xfrm>
          <a:prstGeom prst="straightConnector1">
            <a:avLst/>
          </a:prstGeom>
          <a:noFill/>
          <a:ln cap="flat" cmpd="sng" w="254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0"/>
          <p:cNvSpPr/>
          <p:nvPr/>
        </p:nvSpPr>
        <p:spPr>
          <a:xfrm>
            <a:off x="731520" y="274320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Prototipo inicial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2953512" y="1874520"/>
            <a:ext cx="914400" cy="384048"/>
          </a:xfrm>
          <a:prstGeom prst="rect">
            <a:avLst/>
          </a:prstGeom>
          <a:solidFill>
            <a:srgbClr val="005AA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v1.1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10"/>
          <p:cNvCxnSpPr/>
          <p:nvPr/>
        </p:nvCxnSpPr>
        <p:spPr>
          <a:xfrm>
            <a:off x="3895344" y="2075688"/>
            <a:ext cx="932688" cy="0"/>
          </a:xfrm>
          <a:prstGeom prst="straightConnector1">
            <a:avLst/>
          </a:prstGeom>
          <a:noFill/>
          <a:ln cap="flat" cmpd="sng" w="254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0"/>
          <p:cNvSpPr/>
          <p:nvPr/>
        </p:nvSpPr>
        <p:spPr>
          <a:xfrm>
            <a:off x="2633472" y="274320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Motivos de rechazo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4855464" y="1874520"/>
            <a:ext cx="914400" cy="384048"/>
          </a:xfrm>
          <a:prstGeom prst="rect">
            <a:avLst/>
          </a:prstGeom>
          <a:solidFill>
            <a:srgbClr val="005AA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v1.2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p10"/>
          <p:cNvCxnSpPr/>
          <p:nvPr/>
        </p:nvCxnSpPr>
        <p:spPr>
          <a:xfrm>
            <a:off x="5797296" y="2075688"/>
            <a:ext cx="932688" cy="0"/>
          </a:xfrm>
          <a:prstGeom prst="straightConnector1">
            <a:avLst/>
          </a:prstGeom>
          <a:noFill/>
          <a:ln cap="flat" cmpd="sng" w="254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0"/>
          <p:cNvSpPr/>
          <p:nvPr/>
        </p:nvSpPr>
        <p:spPr>
          <a:xfrm>
            <a:off x="4535424" y="274320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Sesión + panel admin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6757416" y="1874520"/>
            <a:ext cx="914400" cy="384048"/>
          </a:xfrm>
          <a:prstGeom prst="rect">
            <a:avLst/>
          </a:prstGeom>
          <a:solidFill>
            <a:srgbClr val="005AA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v1.3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10"/>
          <p:cNvCxnSpPr/>
          <p:nvPr/>
        </p:nvCxnSpPr>
        <p:spPr>
          <a:xfrm>
            <a:off x="7699248" y="2075688"/>
            <a:ext cx="932688" cy="0"/>
          </a:xfrm>
          <a:prstGeom prst="straightConnector1">
            <a:avLst/>
          </a:prstGeom>
          <a:noFill/>
          <a:ln cap="flat" cmpd="sng" w="254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10"/>
          <p:cNvSpPr/>
          <p:nvPr/>
        </p:nvSpPr>
        <p:spPr>
          <a:xfrm>
            <a:off x="6437376" y="274320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Accesibilidad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8659368" y="1874520"/>
            <a:ext cx="914400" cy="384048"/>
          </a:xfrm>
          <a:prstGeom prst="rect">
            <a:avLst/>
          </a:prstGeom>
          <a:solidFill>
            <a:srgbClr val="005AA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v1.4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p10"/>
          <p:cNvCxnSpPr/>
          <p:nvPr/>
        </p:nvCxnSpPr>
        <p:spPr>
          <a:xfrm>
            <a:off x="9601200" y="2075688"/>
            <a:ext cx="932688" cy="0"/>
          </a:xfrm>
          <a:prstGeom prst="straightConnector1">
            <a:avLst/>
          </a:prstGeom>
          <a:noFill/>
          <a:ln cap="flat" cmpd="sng" w="254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0"/>
          <p:cNvSpPr/>
          <p:nvPr/>
        </p:nvSpPr>
        <p:spPr>
          <a:xfrm>
            <a:off x="8339328" y="274320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Falla de institución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10561320" y="1874520"/>
            <a:ext cx="914400" cy="384048"/>
          </a:xfrm>
          <a:prstGeom prst="rect">
            <a:avLst/>
          </a:prstGeom>
          <a:solidFill>
            <a:srgbClr val="F6A8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v1.5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10241280" y="274320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12 HU + 48 CA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1097280" y="411480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La planilla de control de cambios permite explicar cómo el prototipo evolucionó después de la ejecución de pruebas y retroalimentación.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2011680" y="4983480"/>
            <a:ext cx="8138160" cy="548640"/>
          </a:xfrm>
          <a:prstGeom prst="roundRect">
            <a:avLst>
              <a:gd fmla="val 16667" name="adj"/>
            </a:avLst>
          </a:prstGeom>
          <a:solidFill>
            <a:srgbClr val="EAF4FF"/>
          </a:solidFill>
          <a:ln cap="flat" cmpd="sng" w="12700">
            <a:solidFill>
              <a:srgbClr val="BBD7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2240280" y="5175504"/>
            <a:ext cx="7680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Técnica usada: versionamiento por hoja de control + registro de defecto asociado a caso de prueba y versión de corrección.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10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10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Portal BES · Ingeniería de Software · Evaluación EA3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320040" y="11887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EA3 · Calidad y Pruebas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10195560" y="8229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DuocUC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11201400" y="14630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lang="en-US" sz="4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INFORMÁTICA Y TELECOMUNICACIONES</a:t>
            </a:r>
            <a:endParaRPr sz="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502920" y="758952"/>
            <a:ext cx="11155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Demostración del prototipo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11"/>
          <p:cNvCxnSpPr/>
          <p:nvPr/>
        </p:nvCxnSpPr>
        <p:spPr>
          <a:xfrm>
            <a:off x="502920" y="13075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bes_imgs/image1.png" id="334" name="Google Shape;3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889" y="1600200"/>
            <a:ext cx="2515343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bes_imgs/image8.png" id="335" name="Google Shape;335;p11"/>
          <p:cNvPicPr preferRelativeResize="0"/>
          <p:nvPr/>
        </p:nvPicPr>
        <p:blipFill rotWithShape="1">
          <a:blip r:embed="rId4">
            <a:alphaModFix/>
          </a:blip>
          <a:srcRect b="0" l="7508" r="7508" t="0"/>
          <a:stretch/>
        </p:blipFill>
        <p:spPr>
          <a:xfrm>
            <a:off x="3794760" y="1600200"/>
            <a:ext cx="3886200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bes_imgs/image9.png" id="336" name="Google Shape;336;p11"/>
          <p:cNvPicPr preferRelativeResize="0"/>
          <p:nvPr/>
        </p:nvPicPr>
        <p:blipFill rotWithShape="1">
          <a:blip r:embed="rId5">
            <a:alphaModFix/>
          </a:blip>
          <a:srcRect b="0" l="12950" r="12950" t="0"/>
          <a:stretch/>
        </p:blipFill>
        <p:spPr>
          <a:xfrm>
            <a:off x="7909560" y="1600200"/>
            <a:ext cx="338328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1"/>
          <p:cNvSpPr/>
          <p:nvPr/>
        </p:nvSpPr>
        <p:spPr>
          <a:xfrm>
            <a:off x="868680" y="4160520"/>
            <a:ext cx="10698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Recorrido sugerido para la defensa: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Ingresar al prototipo publicado.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Mostrar dashboard de beneficios.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Mostrar tarjeta de institución no disponible.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Mostrar cierre de sesión o panel admin.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Relacionar cada flujo con casos de prueba ejecutados.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11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1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Portal BES · Ingeniería de Software · Evaluación EA3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320040" y="11887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EA3 · Calidad y Pruebas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10195560" y="8229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DuocUC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11201400" y="14630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lang="en-US" sz="4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INFORMÁTICA Y TELECOMUNICACIONES</a:t>
            </a:r>
            <a:endParaRPr sz="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502920" y="758952"/>
            <a:ext cx="11155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Respuesta clave para la defensa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12"/>
          <p:cNvCxnSpPr/>
          <p:nvPr/>
        </p:nvCxnSpPr>
        <p:spPr>
          <a:xfrm>
            <a:off x="502920" y="13075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12"/>
          <p:cNvSpPr/>
          <p:nvPr/>
        </p:nvSpPr>
        <p:spPr>
          <a:xfrm>
            <a:off x="914400" y="1645920"/>
            <a:ext cx="10332720" cy="18745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1234440" y="1965960"/>
            <a:ext cx="9646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“No solo diseñamos el prototipo: lo validamos con un proceso de QA. Mantuvimos las 8 historias originales, agregamos 4 nuevas para cubrir el prototipo real, definimos 4 criterios de aceptación por historia y generamos 48 casos de prueba ejecutables manualmente sobre la página publicada.”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1097280" y="3977640"/>
            <a:ext cx="292608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1097280" y="3977640"/>
            <a:ext cx="73152" cy="1143000"/>
          </a:xfrm>
          <a:prstGeom prst="rect">
            <a:avLst/>
          </a:prstGeom>
          <a:solidFill>
            <a:srgbClr val="005AA9"/>
          </a:solidFill>
          <a:ln cap="flat" cmpd="sng" w="12700">
            <a:solidFill>
              <a:srgbClr val="005A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1261872" y="410565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Prototipo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1261872" y="4416552"/>
            <a:ext cx="2633472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Se demuestra en vivo desde Vercel.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617720" y="3977640"/>
            <a:ext cx="292608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4617720" y="3977640"/>
            <a:ext cx="73152" cy="1143000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4782312" y="410565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4782312" y="4416552"/>
            <a:ext cx="2633472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ISO 9126 + ISO 25000/25010.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8138160" y="3977640"/>
            <a:ext cx="292608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8138160" y="3977640"/>
            <a:ext cx="73152" cy="11430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8302752" y="410565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Mejora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8302752" y="4416552"/>
            <a:ext cx="2633472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Bugs + control de cambios + Kanban.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12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12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Portal BES · Ingeniería de Software · Evaluación EA3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"/>
          <p:cNvSpPr/>
          <p:nvPr/>
        </p:nvSpPr>
        <p:spPr>
          <a:xfrm>
            <a:off x="0" y="475488"/>
            <a:ext cx="12191695" cy="73152"/>
          </a:xfrm>
          <a:prstGeom prst="rect">
            <a:avLst/>
          </a:prstGeom>
          <a:solidFill>
            <a:srgbClr val="F6A800"/>
          </a:solidFill>
          <a:ln cap="flat" cmpd="sng" w="12700">
            <a:solidFill>
              <a:srgbClr val="F6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/>
          <p:nvPr/>
        </p:nvSpPr>
        <p:spPr>
          <a:xfrm>
            <a:off x="320040" y="11887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EA3 · Calidad y Pruebas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10195560" y="8229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DuocUC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11201400" y="14630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lang="en-US" sz="4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INFORMÁTICA Y TELECOMUNICACIONES</a:t>
            </a:r>
            <a:endParaRPr sz="4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502920" y="758952"/>
            <a:ext cx="111556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3C71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13"/>
          <p:cNvCxnSpPr/>
          <p:nvPr/>
        </p:nvCxnSpPr>
        <p:spPr>
          <a:xfrm>
            <a:off x="502920" y="130759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13"/>
          <p:cNvSpPr/>
          <p:nvPr/>
        </p:nvSpPr>
        <p:spPr>
          <a:xfrm>
            <a:off x="1143000" y="1691640"/>
            <a:ext cx="99669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Portal BES cumple con el enfoque de prototipo funcional evaluable.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La calidad se evidencia mediante HU, CA, casos, defectos y cambios.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El testing temprano permitió detectar fallas antes de una implementación real.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El Kanban permite visualizar avance y estado de cada prueba.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La trazabilidad conecta requisito → criterio → caso → defecto → cambio.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1828800" y="4892040"/>
            <a:ext cx="8549640" cy="731520"/>
          </a:xfrm>
          <a:prstGeom prst="roundRect">
            <a:avLst>
              <a:gd fmla="val 16667" name="adj"/>
            </a:avLst>
          </a:prstGeom>
          <a:solidFill>
            <a:srgbClr val="003C71"/>
          </a:solidFill>
          <a:ln cap="flat" cmpd="sng" w="12700">
            <a:solidFill>
              <a:srgbClr val="003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3"/>
          <p:cNvSpPr/>
          <p:nvPr/>
        </p:nvSpPr>
        <p:spPr>
          <a:xfrm>
            <a:off x="2103120" y="5138928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Entrega corregida: 12 HU · 48 criterios de aceptación · 48 casos de prueba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p13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13"/>
          <p:cNvSpPr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Portal BES · Ingeniería de Software · Evaluación EA3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11338560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2026-06-19T07:35:47Z</dcterms:created>
  <dc:creator>Portal BES - Equipo 5</dc:creator>
</cp:coreProperties>
</file>